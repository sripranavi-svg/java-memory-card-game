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4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972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JAVA MEMORY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CARD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15468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D7E2F7"/>
                </a:solidFill>
                <a:latin typeface="Aptos"/>
              </a:defRPr>
            </a:pPr>
            <a:r>
              <a:t>A simple interactive game developed using Java Swing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440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4C352"/>
                </a:solidFill>
                <a:latin typeface="Aptos"/>
              </a:defRPr>
            </a:pPr>
            <a:r>
              <a:t>MINI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97880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IN" dirty="0"/>
              <a:t>K SRI PRANAVI RAO –25WH1A0571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772400" y="1234440"/>
            <a:ext cx="868680" cy="987552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234440"/>
            <a:ext cx="868680" cy="987552"/>
          </a:xfrm>
          <a:prstGeom prst="roundRect">
            <a:avLst/>
          </a:prstGeom>
          <a:solidFill>
            <a:srgbClr val="F4C3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1A2A4E"/>
                </a:solidFill>
                <a:latin typeface="Aptos"/>
              </a:defRPr>
            </a:pPr>
            <a:r>
              <a:t>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234440"/>
            <a:ext cx="868680" cy="987552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606040"/>
            <a:ext cx="868680" cy="987552"/>
          </a:xfrm>
          <a:prstGeom prst="roundRect">
            <a:avLst/>
          </a:prstGeom>
          <a:solidFill>
            <a:srgbClr val="F4C3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1A2A4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2606040"/>
            <a:ext cx="868680" cy="987552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2606040"/>
            <a:ext cx="868680" cy="987552"/>
          </a:xfrm>
          <a:prstGeom prst="roundRect">
            <a:avLst/>
          </a:prstGeom>
          <a:solidFill>
            <a:srgbClr val="F4C35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1A2A4E"/>
                </a:solidFill>
                <a:latin typeface="Aptos"/>
              </a:defRPr>
            </a:pPr>
            <a:r>
              <a:t>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A2A4E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1024128" cy="54864"/>
          </a:xfrm>
          <a:prstGeom prst="rect">
            <a:avLst/>
          </a:prstGeom>
          <a:solidFill>
            <a:srgbClr val="4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698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67082"/>
                </a:solidFill>
                <a:latin typeface="Aptos"/>
              </a:defRPr>
            </a:pPr>
            <a:r>
              <a:t>What is the Java Memory Card Game?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670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A313E"/>
                </a:solidFill>
                <a:latin typeface="Aptos"/>
              </a:defRPr>
            </a:pPr>
            <a:r>
              <a:t>A matching game where the player finds identical pairs of cards.</a:t>
            </a:r>
          </a:p>
          <a:p>
            <a:pPr>
              <a:spcAft>
                <a:spcPts val="1600"/>
              </a:spcAft>
              <a:defRPr sz="2000">
                <a:solidFill>
                  <a:srgbClr val="2A313E"/>
                </a:solidFill>
                <a:latin typeface="Aptos"/>
              </a:defRPr>
            </a:pPr>
            <a:r>
              <a:t>All cards begin face down and show a symbol when clicked.</a:t>
            </a:r>
          </a:p>
          <a:p>
            <a:pPr>
              <a:spcAft>
                <a:spcPts val="1600"/>
              </a:spcAft>
              <a:defRPr sz="2000">
                <a:solidFill>
                  <a:srgbClr val="2A313E"/>
                </a:solidFill>
                <a:latin typeface="Aptos"/>
              </a:defRPr>
            </a:pPr>
            <a:r>
              <a:t>Matched pairs stay visible; unmatched cards are hidden again.</a:t>
            </a:r>
          </a:p>
          <a:p>
            <a:pPr>
              <a:spcAft>
                <a:spcPts val="1600"/>
              </a:spcAft>
              <a:defRPr sz="2000">
                <a:solidFill>
                  <a:srgbClr val="2A313E"/>
                </a:solidFill>
                <a:latin typeface="Aptos"/>
              </a:defRPr>
            </a:pPr>
            <a:r>
              <a:t>The game ends when all six pairs are found.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148840"/>
            <a:ext cx="868680" cy="960120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2148840"/>
            <a:ext cx="868680" cy="960120"/>
          </a:xfrm>
          <a:prstGeom prst="roundRect">
            <a:avLst/>
          </a:prstGeom>
          <a:solidFill>
            <a:srgbClr val="419D6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337560"/>
            <a:ext cx="868680" cy="960120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3337560"/>
            <a:ext cx="868680" cy="960120"/>
          </a:xfrm>
          <a:prstGeom prst="roundRect">
            <a:avLst/>
          </a:prstGeom>
          <a:solidFill>
            <a:srgbClr val="419D6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709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A2A4E"/>
                </a:solidFill>
                <a:latin typeface="Aptos"/>
              </a:defRPr>
            </a:pPr>
            <a:r>
              <a:t>Find matching pairs!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A2A4E"/>
                </a:solidFill>
                <a:latin typeface="Aptos"/>
              </a:defRPr>
            </a:pPr>
            <a:r>
              <a:t>2.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1024128" cy="54864"/>
          </a:xfrm>
          <a:prstGeom prst="rect">
            <a:avLst/>
          </a:prstGeom>
          <a:solidFill>
            <a:srgbClr val="4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698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67082"/>
                </a:solidFill>
                <a:latin typeface="Aptos"/>
              </a:defRPr>
            </a:pPr>
            <a:r>
              <a:t>Main goals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670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A313E"/>
                </a:solidFill>
                <a:latin typeface="Aptos"/>
              </a:defRPr>
            </a:pPr>
            <a:r>
              <a:t>Create a simple and interactive graphical game.</a:t>
            </a:r>
          </a:p>
          <a:p>
            <a:pPr>
              <a:spcAft>
                <a:spcPts val="1600"/>
              </a:spcAft>
              <a:defRPr sz="2100">
                <a:solidFill>
                  <a:srgbClr val="2A313E"/>
                </a:solidFill>
                <a:latin typeface="Aptos"/>
              </a:defRPr>
            </a:pPr>
            <a:r>
              <a:t>Practise Java programming and object-oriented concepts.</a:t>
            </a:r>
          </a:p>
          <a:p>
            <a:pPr>
              <a:spcAft>
                <a:spcPts val="1600"/>
              </a:spcAft>
              <a:defRPr sz="2100">
                <a:solidFill>
                  <a:srgbClr val="2A313E"/>
                </a:solidFill>
                <a:latin typeface="Aptos"/>
              </a:defRPr>
            </a:pPr>
            <a:r>
              <a:t>Use event handling to respond to card clicks.</a:t>
            </a:r>
          </a:p>
          <a:p>
            <a:pPr>
              <a:spcAft>
                <a:spcPts val="1600"/>
              </a:spcAft>
              <a:defRPr sz="2100">
                <a:solidFill>
                  <a:srgbClr val="2A313E"/>
                </a:solidFill>
                <a:latin typeface="Aptos"/>
              </a:defRPr>
            </a:pPr>
            <a:r>
              <a:t>Track the number of moves and the time taken.</a:t>
            </a:r>
          </a:p>
          <a:p>
            <a:pPr>
              <a:spcAft>
                <a:spcPts val="1600"/>
              </a:spcAft>
              <a:defRPr sz="2100">
                <a:solidFill>
                  <a:srgbClr val="2A313E"/>
                </a:solidFill>
                <a:latin typeface="Aptos"/>
              </a:defRPr>
            </a:pPr>
            <a:r>
              <a:t>Provide a restart option so the player can play again.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A2A4E"/>
                </a:solidFill>
                <a:latin typeface="Aptos"/>
              </a:defRPr>
            </a:pPr>
            <a:r>
              <a:t>3. 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1024128" cy="54864"/>
          </a:xfrm>
          <a:prstGeom prst="rect">
            <a:avLst/>
          </a:prstGeom>
          <a:solidFill>
            <a:srgbClr val="4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698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67082"/>
                </a:solidFill>
                <a:latin typeface="Aptos"/>
              </a:defRPr>
            </a:pPr>
            <a:r>
              <a:t>Tools and Java libraries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670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00400" cy="1051560"/>
          </a:xfrm>
          <a:prstGeom prst="roundRect">
            <a:avLst/>
          </a:prstGeom>
          <a:solidFill>
            <a:srgbClr val="1A2A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Java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200400" cy="1051560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Java Swing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00400" cy="1051560"/>
          </a:xfrm>
          <a:prstGeom prst="roundRect">
            <a:avLst/>
          </a:prstGeom>
          <a:solidFill>
            <a:srgbClr val="419D6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JDK / 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332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A313E"/>
                </a:solidFill>
                <a:latin typeface="Aptos"/>
              </a:defRPr>
            </a:pPr>
            <a:r>
              <a:t>JFrame and JPanel create the game window and layout.</a:t>
            </a:r>
          </a:p>
          <a:p>
            <a:pPr>
              <a:spcAft>
                <a:spcPts val="1600"/>
              </a:spcAft>
              <a:defRPr sz="1800">
                <a:solidFill>
                  <a:srgbClr val="2A313E"/>
                </a:solidFill>
                <a:latin typeface="Aptos"/>
              </a:defRPr>
            </a:pPr>
            <a:r>
              <a:t>JButton represents each card.</a:t>
            </a:r>
          </a:p>
          <a:p>
            <a:pPr>
              <a:spcAft>
                <a:spcPts val="1600"/>
              </a:spcAft>
              <a:defRPr sz="1800">
                <a:solidFill>
                  <a:srgbClr val="2A313E"/>
                </a:solidFill>
                <a:latin typeface="Aptos"/>
              </a:defRPr>
            </a:pPr>
            <a:r>
              <a:t>ActionListener handles mouse clicks.</a:t>
            </a:r>
          </a:p>
          <a:p>
            <a:pPr>
              <a:spcAft>
                <a:spcPts val="1600"/>
              </a:spcAft>
              <a:defRPr sz="1800">
                <a:solidFill>
                  <a:srgbClr val="2A313E"/>
                </a:solidFill>
                <a:latin typeface="Aptos"/>
              </a:defRPr>
            </a:pPr>
            <a:r>
              <a:t>Arrays store symbols and matched-card status.</a:t>
            </a:r>
          </a:p>
          <a:p>
            <a:pPr>
              <a:spcAft>
                <a:spcPts val="1600"/>
              </a:spcAft>
              <a:defRPr sz="1800">
                <a:solidFill>
                  <a:srgbClr val="2A313E"/>
                </a:solidFill>
                <a:latin typeface="Aptos"/>
              </a:defRPr>
            </a:pPr>
            <a:r>
              <a:t>Collections.shuffle() randomizes the card order.</a:t>
            </a:r>
          </a:p>
          <a:p>
            <a:pPr>
              <a:spcAft>
                <a:spcPts val="1600"/>
              </a:spcAft>
              <a:defRPr sz="1800">
                <a:solidFill>
                  <a:srgbClr val="2A313E"/>
                </a:solidFill>
                <a:latin typeface="Aptos"/>
              </a:defRPr>
            </a:pPr>
            <a:r>
              <a:t>javax.swing.Timer updates the timer and hides unmatched cards.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A2A4E"/>
                </a:solidFill>
                <a:latin typeface="Aptos"/>
              </a:defRPr>
            </a:pPr>
            <a:r>
              <a:t>4. Working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1024128" cy="54864"/>
          </a:xfrm>
          <a:prstGeom prst="rect">
            <a:avLst/>
          </a:prstGeom>
          <a:solidFill>
            <a:srgbClr val="4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698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67082"/>
                </a:solidFill>
                <a:latin typeface="Aptos"/>
              </a:defRPr>
            </a:pPr>
            <a:r>
              <a:t>How the game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670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46120" cy="1005840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1. Create 12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20848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A2A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246120" cy="1005840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2. Shuffle symbols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8" y="20848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A2A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828800"/>
            <a:ext cx="3246120" cy="1005840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3. Flip two cards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3246120" cy="1005840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4. Compare symbols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39136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A2A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657600"/>
            <a:ext cx="3246120" cy="1005840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5. Keep match or hide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39136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A2A4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657600"/>
            <a:ext cx="3246120" cy="1005840"/>
          </a:xfrm>
          <a:prstGeom prst="roundRect">
            <a:avLst/>
          </a:prstGeom>
          <a:solidFill>
            <a:srgbClr val="419D6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6. Finish all pairs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667082"/>
                </a:solidFill>
                <a:latin typeface="Aptos"/>
              </a:defRPr>
            </a:pPr>
            <a:r>
              <a:t>A move is counted after the player selects two cards.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A2A4E"/>
                </a:solidFill>
                <a:latin typeface="Aptos"/>
              </a:defRPr>
            </a:pPr>
            <a:r>
              <a:t>5.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1024128" cy="54864"/>
          </a:xfrm>
          <a:prstGeom prst="rect">
            <a:avLst/>
          </a:prstGeom>
          <a:solidFill>
            <a:srgbClr val="4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698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67082"/>
                </a:solidFill>
                <a:latin typeface="Aptos"/>
              </a:defRPr>
            </a:pPr>
            <a:r>
              <a:t>What the player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670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A313E"/>
                </a:solidFill>
                <a:latin typeface="Aptos"/>
              </a:defRPr>
            </a:pPr>
            <a:r>
              <a:t>12 cards arranged in a 3 × 4 grid.</a:t>
            </a:r>
          </a:p>
          <a:p>
            <a:pPr>
              <a:spcAft>
                <a:spcPts val="1600"/>
              </a:spcAft>
              <a:defRPr sz="2100">
                <a:solidFill>
                  <a:srgbClr val="2A313E"/>
                </a:solidFill>
                <a:latin typeface="Aptos"/>
              </a:defRPr>
            </a:pPr>
            <a:r>
              <a:t>Random card arrangement for each new game.</a:t>
            </a:r>
          </a:p>
          <a:p>
            <a:pPr>
              <a:spcAft>
                <a:spcPts val="1600"/>
              </a:spcAft>
              <a:defRPr sz="2100">
                <a:solidFill>
                  <a:srgbClr val="2A313E"/>
                </a:solidFill>
                <a:latin typeface="Aptos"/>
              </a:defRPr>
            </a:pPr>
            <a:r>
              <a:t>Automatic checking of matching pairs.</a:t>
            </a:r>
          </a:p>
          <a:p>
            <a:pPr>
              <a:spcAft>
                <a:spcPts val="1600"/>
              </a:spcAft>
              <a:defRPr sz="2100">
                <a:solidFill>
                  <a:srgbClr val="2A313E"/>
                </a:solidFill>
                <a:latin typeface="Aptos"/>
              </a:defRPr>
            </a:pPr>
            <a:r>
              <a:t>Move counter and elapsed-time display.</a:t>
            </a:r>
          </a:p>
          <a:p>
            <a:pPr>
              <a:spcAft>
                <a:spcPts val="1600"/>
              </a:spcAft>
              <a:defRPr sz="2100">
                <a:solidFill>
                  <a:srgbClr val="2A313E"/>
                </a:solidFill>
                <a:latin typeface="Aptos"/>
              </a:defRPr>
            </a:pPr>
            <a:r>
              <a:t>Message displayed when all pairs are matched.</a:t>
            </a:r>
          </a:p>
          <a:p>
            <a:pPr>
              <a:spcAft>
                <a:spcPts val="1600"/>
              </a:spcAft>
              <a:defRPr sz="2100">
                <a:solidFill>
                  <a:srgbClr val="2A313E"/>
                </a:solidFill>
                <a:latin typeface="Aptos"/>
              </a:defRPr>
            </a:pPr>
            <a:r>
              <a:t>Restart button to reset the game.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A2A4E"/>
                </a:solidFill>
                <a:latin typeface="Aptos"/>
              </a:defRPr>
            </a:pPr>
            <a:r>
              <a:t>6. Java Concepts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1024128" cy="54864"/>
          </a:xfrm>
          <a:prstGeom prst="rect">
            <a:avLst/>
          </a:prstGeom>
          <a:solidFill>
            <a:srgbClr val="4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698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67082"/>
                </a:solidFill>
                <a:latin typeface="Aptos"/>
              </a:defRPr>
            </a:pPr>
            <a:r>
              <a:t>Programming concepts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670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2103120" cy="731520"/>
          </a:xfrm>
          <a:prstGeom prst="roundRect">
            <a:avLst/>
          </a:prstGeom>
          <a:solidFill>
            <a:srgbClr val="1A2A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Classes &amp;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810512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A313E"/>
                </a:solidFill>
                <a:latin typeface="Aptos"/>
              </a:defRPr>
            </a:pPr>
            <a:r>
              <a:t>Organize the game and its 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9" y="1783080"/>
            <a:ext cx="2103120" cy="731520"/>
          </a:xfrm>
          <a:prstGeom prst="roundRect">
            <a:avLst/>
          </a:prstGeom>
          <a:solidFill>
            <a:srgbClr val="1A2A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Arrays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810512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A313E"/>
                </a:solidFill>
                <a:latin typeface="Aptos"/>
              </a:defRPr>
            </a:pPr>
            <a:r>
              <a:t>Store card symbols and match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08960"/>
            <a:ext cx="2103120" cy="731520"/>
          </a:xfrm>
          <a:prstGeom prst="roundRect">
            <a:avLst/>
          </a:prstGeom>
          <a:solidFill>
            <a:srgbClr val="1A2A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Loops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136391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A313E"/>
                </a:solidFill>
                <a:latin typeface="Aptos"/>
              </a:defRPr>
            </a:pPr>
            <a:r>
              <a:t>Create and reset the cards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3108960"/>
            <a:ext cx="2103120" cy="731520"/>
          </a:xfrm>
          <a:prstGeom prst="roundRect">
            <a:avLst/>
          </a:prstGeom>
          <a:solidFill>
            <a:srgbClr val="1A2A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Event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136391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A313E"/>
                </a:solidFill>
                <a:latin typeface="Aptos"/>
              </a:defRPr>
            </a:pPr>
            <a:r>
              <a:t>Respond to button clicks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434840"/>
            <a:ext cx="2103120" cy="731520"/>
          </a:xfrm>
          <a:prstGeom prst="roundRect">
            <a:avLst/>
          </a:prstGeom>
          <a:solidFill>
            <a:srgbClr val="1A2A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Collections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462272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A313E"/>
                </a:solidFill>
                <a:latin typeface="Aptos"/>
              </a:defRPr>
            </a:pPr>
            <a:r>
              <a:t>Shuffle the card symbols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4434840"/>
            <a:ext cx="2103120" cy="731520"/>
          </a:xfrm>
          <a:prstGeom prst="roundRect">
            <a:avLst/>
          </a:prstGeom>
          <a:solidFill>
            <a:srgbClr val="1A2A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Swing Timer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462272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A313E"/>
                </a:solidFill>
                <a:latin typeface="Aptos"/>
              </a:defRPr>
            </a:pPr>
            <a:r>
              <a:t>Update time and handle delays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A2A4E"/>
                </a:solidFill>
                <a:latin typeface="Aptos"/>
              </a:defRPr>
            </a:pPr>
            <a:r>
              <a:t>7. Sample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1024128" cy="54864"/>
          </a:xfrm>
          <a:prstGeom prst="rect">
            <a:avLst/>
          </a:prstGeom>
          <a:solidFill>
            <a:srgbClr val="4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698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67082"/>
                </a:solidFill>
                <a:latin typeface="Aptos"/>
              </a:defRPr>
            </a:pPr>
            <a:r>
              <a:t>Illustrative game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670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691640"/>
            <a:ext cx="4572000" cy="502920"/>
          </a:xfrm>
          <a:prstGeom prst="roundRect">
            <a:avLst/>
          </a:prstGeom>
          <a:solidFill>
            <a:srgbClr val="1A2A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MEMORY CARD GAME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423160"/>
            <a:ext cx="658368" cy="621792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2423160"/>
            <a:ext cx="658368" cy="621792"/>
          </a:xfrm>
          <a:prstGeom prst="roundRect">
            <a:avLst/>
          </a:prstGeom>
          <a:solidFill>
            <a:srgbClr val="419D6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2423160"/>
            <a:ext cx="658368" cy="621792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423160"/>
            <a:ext cx="658368" cy="621792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246120"/>
            <a:ext cx="658368" cy="621792"/>
          </a:xfrm>
          <a:prstGeom prst="roundRect">
            <a:avLst/>
          </a:prstGeom>
          <a:solidFill>
            <a:srgbClr val="419D6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3246120"/>
            <a:ext cx="658368" cy="621792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3246120"/>
            <a:ext cx="658368" cy="621792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246120"/>
            <a:ext cx="658368" cy="621792"/>
          </a:xfrm>
          <a:prstGeom prst="roundRect">
            <a:avLst/>
          </a:prstGeom>
          <a:solidFill>
            <a:srgbClr val="419D6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4069080"/>
            <a:ext cx="658368" cy="621792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4069080"/>
            <a:ext cx="658368" cy="621792"/>
          </a:xfrm>
          <a:prstGeom prst="roundRect">
            <a:avLst/>
          </a:prstGeom>
          <a:solidFill>
            <a:srgbClr val="419D6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4069080"/>
            <a:ext cx="658368" cy="621792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4069080"/>
            <a:ext cx="658368" cy="621792"/>
          </a:xfrm>
          <a:prstGeom prst="roundRect">
            <a:avLst/>
          </a:prstGeom>
          <a:solidFill>
            <a:srgbClr val="4369B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166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A2A4E"/>
                </a:solidFill>
                <a:latin typeface="Aptos"/>
              </a:defRPr>
            </a:pPr>
            <a:r>
              <a:t>Moves: 4        Time: 18 seconds        Pairs: 2/6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71500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667082"/>
                </a:solidFill>
                <a:latin typeface="Aptos"/>
              </a:defRPr>
            </a:pPr>
            <a:r>
              <a:t>The actual screen may look slightly different depending on the system font.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A2A4E"/>
                </a:solidFill>
                <a:latin typeface="Aptos"/>
              </a:defRPr>
            </a:pPr>
            <a:r>
              <a:t>8.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1024128" cy="54864"/>
          </a:xfrm>
          <a:prstGeom prst="rect">
            <a:avLst/>
          </a:prstGeom>
          <a:solidFill>
            <a:srgbClr val="4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698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67082"/>
                </a:solidFill>
                <a:latin typeface="Aptos"/>
              </a:defRPr>
            </a:pPr>
            <a:r>
              <a:t>Basic test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6708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4023360" cy="594360"/>
          </a:xfrm>
          <a:prstGeom prst="roundRect">
            <a:avLst/>
          </a:prstGeom>
          <a:solidFill>
            <a:srgbClr val="1A2A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Test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737360"/>
            <a:ext cx="6583680" cy="594360"/>
          </a:xfrm>
          <a:prstGeom prst="roundRect">
            <a:avLst/>
          </a:prstGeom>
          <a:solidFill>
            <a:srgbClr val="1A2A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23160"/>
            <a:ext cx="40233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>
              <a:defRPr sz="1600">
                <a:solidFill>
                  <a:srgbClr val="2A313E"/>
                </a:solidFill>
                <a:latin typeface="Aptos"/>
              </a:defRPr>
            </a:pPr>
            <a:r>
              <a:t>Click one 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423160"/>
            <a:ext cx="6583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>
              <a:defRPr sz="1600">
                <a:solidFill>
                  <a:srgbClr val="2A313E"/>
                </a:solidFill>
                <a:latin typeface="Aptos"/>
              </a:defRPr>
            </a:pPr>
            <a:r>
              <a:t>Its symbol is revealed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36391"/>
            <a:ext cx="4023360" cy="621792"/>
          </a:xfrm>
          <a:prstGeom prst="rect">
            <a:avLst/>
          </a:prstGeom>
          <a:solidFill>
            <a:srgbClr val="E5ECF8"/>
          </a:solidFill>
          <a:ln>
            <a:solidFill>
              <a:srgbClr val="D2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>
              <a:defRPr sz="1600">
                <a:solidFill>
                  <a:srgbClr val="2A313E"/>
                </a:solidFill>
                <a:latin typeface="Aptos"/>
              </a:defRPr>
            </a:pPr>
            <a:r>
              <a:t>Select matching cards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3136391"/>
            <a:ext cx="6583680" cy="621792"/>
          </a:xfrm>
          <a:prstGeom prst="rect">
            <a:avLst/>
          </a:prstGeom>
          <a:solidFill>
            <a:srgbClr val="E5ECF8"/>
          </a:solidFill>
          <a:ln>
            <a:solidFill>
              <a:srgbClr val="D2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>
              <a:defRPr sz="1600">
                <a:solidFill>
                  <a:srgbClr val="2A313E"/>
                </a:solidFill>
                <a:latin typeface="Aptos"/>
              </a:defRPr>
            </a:pPr>
            <a:r>
              <a:t>Both remain visible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49624"/>
            <a:ext cx="40233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>
              <a:defRPr sz="1600">
                <a:solidFill>
                  <a:srgbClr val="2A313E"/>
                </a:solidFill>
                <a:latin typeface="Aptos"/>
              </a:defRPr>
            </a:pPr>
            <a:r>
              <a:t>Select different cards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3849624"/>
            <a:ext cx="6583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>
              <a:defRPr sz="1600">
                <a:solidFill>
                  <a:srgbClr val="2A313E"/>
                </a:solidFill>
                <a:latin typeface="Aptos"/>
              </a:defRPr>
            </a:pPr>
            <a:r>
              <a:t>Both hide after a short delay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62856"/>
            <a:ext cx="4023360" cy="621792"/>
          </a:xfrm>
          <a:prstGeom prst="rect">
            <a:avLst/>
          </a:prstGeom>
          <a:solidFill>
            <a:srgbClr val="E5ECF8"/>
          </a:solidFill>
          <a:ln>
            <a:solidFill>
              <a:srgbClr val="D2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>
              <a:defRPr sz="1600">
                <a:solidFill>
                  <a:srgbClr val="2A313E"/>
                </a:solidFill>
                <a:latin typeface="Aptos"/>
              </a:defRPr>
            </a:pPr>
            <a:r>
              <a:t>Find every pair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4562856"/>
            <a:ext cx="6583680" cy="621792"/>
          </a:xfrm>
          <a:prstGeom prst="rect">
            <a:avLst/>
          </a:prstGeom>
          <a:solidFill>
            <a:srgbClr val="E5ECF8"/>
          </a:solidFill>
          <a:ln>
            <a:solidFill>
              <a:srgbClr val="D2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>
              <a:defRPr sz="1600">
                <a:solidFill>
                  <a:srgbClr val="2A313E"/>
                </a:solidFill>
                <a:latin typeface="Aptos"/>
              </a:defRPr>
            </a:pPr>
            <a:r>
              <a:t>Win message appears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276088"/>
            <a:ext cx="40233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>
              <a:defRPr sz="1600">
                <a:solidFill>
                  <a:srgbClr val="2A313E"/>
                </a:solidFill>
                <a:latin typeface="Aptos"/>
              </a:defRPr>
            </a:pPr>
            <a:r>
              <a:t>Click Restart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5276088"/>
            <a:ext cx="65836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>
              <a:defRPr sz="1600">
                <a:solidFill>
                  <a:srgbClr val="2A313E"/>
                </a:solidFill>
                <a:latin typeface="Aptos"/>
              </a:defRPr>
            </a:pPr>
            <a:r>
              <a:t>Cards, moves and timer reset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A2A4E"/>
                </a:solidFill>
                <a:latin typeface="Aptos"/>
              </a:defRPr>
            </a:pPr>
            <a:r>
              <a:t>9.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41832"/>
            <a:ext cx="1024128" cy="54864"/>
          </a:xfrm>
          <a:prstGeom prst="rect">
            <a:avLst/>
          </a:prstGeom>
          <a:solidFill>
            <a:srgbClr val="4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6984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67082"/>
                </a:solidFill>
                <a:latin typeface="Aptos"/>
              </a:defRPr>
            </a:pPr>
            <a:r>
              <a:t>Possible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670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A313E"/>
                </a:solidFill>
                <a:latin typeface="Aptos"/>
              </a:defRPr>
            </a:pPr>
            <a:r>
              <a:t>Add easy, medium, and hard difficulty levels.</a:t>
            </a:r>
          </a:p>
          <a:p>
            <a:pPr>
              <a:spcAft>
                <a:spcPts val="1600"/>
              </a:spcAft>
              <a:defRPr sz="2100">
                <a:solidFill>
                  <a:srgbClr val="2A313E"/>
                </a:solidFill>
                <a:latin typeface="Aptos"/>
              </a:defRPr>
            </a:pPr>
            <a:r>
              <a:t>Save best scores and player names.</a:t>
            </a:r>
          </a:p>
          <a:p>
            <a:pPr>
              <a:spcAft>
                <a:spcPts val="1600"/>
              </a:spcAft>
              <a:defRPr sz="2100">
                <a:solidFill>
                  <a:srgbClr val="2A313E"/>
                </a:solidFill>
                <a:latin typeface="Aptos"/>
              </a:defRPr>
            </a:pPr>
            <a:r>
              <a:t>Include sound effects and different card themes.</a:t>
            </a:r>
          </a:p>
          <a:p>
            <a:pPr>
              <a:spcAft>
                <a:spcPts val="1600"/>
              </a:spcAft>
              <a:defRPr sz="2100">
                <a:solidFill>
                  <a:srgbClr val="2A313E"/>
                </a:solidFill>
                <a:latin typeface="Aptos"/>
              </a:defRPr>
            </a:pPr>
            <a:r>
              <a:t>Add a leaderboard using a database.</a:t>
            </a:r>
          </a:p>
          <a:p>
            <a:pPr>
              <a:spcAft>
                <a:spcPts val="1600"/>
              </a:spcAft>
              <a:defRPr sz="2100">
                <a:solidFill>
                  <a:srgbClr val="2A313E"/>
                </a:solidFill>
                <a:latin typeface="Aptos"/>
              </a:defRPr>
            </a:pPr>
            <a:r>
              <a:t>Replace symbols with custom images and animations.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10.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89888"/>
            <a:ext cx="1051560" cy="54864"/>
          </a:xfrm>
          <a:prstGeom prst="rect">
            <a:avLst/>
          </a:prstGeom>
          <a:solidFill>
            <a:srgbClr val="F4C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The Java Memory Card Game is a simple and interactive mini-project.</a:t>
            </a:r>
          </a:p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It demonstrates Java Swing, arrays, event handling, randomization, and timers.</a:t>
            </a:r>
          </a:p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  <a:latin typeface="Aptos"/>
              </a:defRPr>
            </a:pPr>
            <a:r>
              <a:t>It can be expanded with new levels, saved scores, and improved graphics.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834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000" b="1">
                <a:solidFill>
                  <a:srgbClr val="F4C352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150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D7E2F7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558</Words>
  <Application>Microsoft Office PowerPoint</Application>
  <PresentationFormat>Widescreen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 Pranavi Rao</cp:lastModifiedBy>
  <cp:revision>2</cp:revision>
  <dcterms:created xsi:type="dcterms:W3CDTF">2013-01-27T09:14:16Z</dcterms:created>
  <dcterms:modified xsi:type="dcterms:W3CDTF">2026-10-28T16:26:48Z</dcterms:modified>
  <cp:category/>
</cp:coreProperties>
</file>